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32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2" r:id="rId33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報告（約 10 分鐘）" id="{7D9E408C-AF20-8B29-3082-EED98D536C6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備詢（Q&amp;A 14 題）" id="{A1D6F043-8B21-78F3-AC5E-2117BE1A3EEA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78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32" Type="http://schemas.openxmlformats.org/officeDocument/2006/relationships/slide" Target="slides/slide26.xml"/>
  <Relationship Id="rId33" Type="http://schemas.openxmlformats.org/officeDocument/2006/relationships/slide" Target="slides/slide27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lang="zh-TW" altLang="en-US" sz="1200" b="0" i="0" u="none" strike="noStrike">
                <a:solidFill>
                  <a:srgbClr val="000000"/>
                </a:solidFill>
                <a:latin typeface="+mn-lt"/>
              </a:rPr>
              <a:t>最細可定位層級（修法後 </a:t>
            </a:r>
            <a:r>
              <a:rPr lang="en-US" altLang="zh-TW" sz="1200" b="0" i="0" u="none" strike="noStrike">
                <a:solidFill>
                  <a:srgbClr val="000000"/>
                </a:solidFill>
                <a:latin typeface="+mn-lt"/>
              </a:rPr>
              <a:t>2024/01–2026/07</a:t>
            </a:r>
            <a:r>
              <a:rPr lang="zh-TW" altLang="en-US" sz="1200" b="0" i="0" u="none" strike="noStrike">
                <a:solidFill>
                  <a:srgbClr val="000000"/>
                </a:solidFill>
                <a:latin typeface="+mn-lt"/>
              </a:rPr>
              <a:t>）</a:t>
            </a:r>
          </a:p>
        </c:rich>
      </c:tx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鄉鎮市區（地點未遮蔽）</c:v>
                </c:pt>
              </c:strCache>
            </c:strRef>
          </c:tx>
          <c:spPr>
            <a:solidFill>
              <a:srgbClr val="0D366B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毒駕</c:v>
                </c:pt>
                <c:pt idx="1">
                  <c:v>酒駕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42.9</c:v>
                </c:pt>
                <c:pt idx="1">
                  <c:v>38.200000000000003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5D-42F2-B3DB-CE50E9CF1E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警察分局轄區（地點遮蔽）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毒駕</c:v>
                </c:pt>
                <c:pt idx="1">
                  <c:v>酒駕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41.2</c:v>
                </c:pt>
                <c:pt idx="1">
                  <c:v>42.2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5D-42F2-B3DB-CE50E9CF1E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僅縣市</c:v>
                </c:pt>
              </c:strCache>
            </c:strRef>
          </c:tx>
          <c:spPr>
            <a:solidFill>
              <a:srgbClr val="9EC5F4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毒駕</c:v>
                </c:pt>
                <c:pt idx="1">
                  <c:v>酒駕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6.5</c:v>
                </c:pt>
                <c:pt idx="1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5D-42F2-B3DB-CE50E9CF1E8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無法定位</c:v>
                </c:pt>
              </c:strCache>
            </c:strRef>
          </c:tx>
          <c:spPr>
            <a:solidFill>
              <a:srgbClr val="D9D9D9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毒駕</c:v>
                </c:pt>
                <c:pt idx="1">
                  <c:v>酒駕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9.5</c:v>
                </c:pt>
                <c:pt idx="1">
                  <c:v>15.4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65D-42F2-B3DB-CE50E9CF1E8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zh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zh-TW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620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【莊一桂｜約 10 秒】各位老師、同學好，我們是第一組，題目是「毒駕案件之時空分布視覺化分析」，資料來自司法院裁判書開放資料。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【莊一桂｜約 10 秒】今天的報告分成七個部分，由四位組員依序接力。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【莊一桂｜約 55 秒】先說動機。毒品影響下駕駛從 1999 年就有刑事處罰，但修法前必須證明「致不能安全駕駛」，很難成立，所以修法前平均每個月只有大約 12 件判決。2023 年 12 月 27 日修法後，第 3 款改採毒品濃度值，尿液驗出達標就成立，判決數一路上升，今年 7 月單月已經 1,212 件。
官方統計多以法院或警察機關為單位，看不出案件發生在哪裡、什麼時候，但判決事實欄通常寫了查獲地點和時間。所以我們用判決回答右邊七個問題；第七題時段，是看了組員原型後新增的。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【莊一桂｜約 50 秒】資料方面，我們下載 2011 到 2026 年每個月的裁判書壓縮檔，用程式只讀地方法院和簡易庭的刑事判決，篩出第 185 條之 3 的判決共 594,297 件。依論罪款別分類，第 1、2 款是酒駕，第 3、4 款是毒駕，結果毒駕 15,077 件、酒駕 57 萬多件，並連同全文另存成子集，方便之後重跑。
依課本 What 架構，資料是 table 加上行政區的 spatial geometry。時間有兩種基準：統計用每案都有的裁判日期；時段分析用聖偉從事實欄擷取的犯罪日期與時刻。接下來說明這些欄位是怎麼從判決全文整理出來的。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【莊一桂｜約 60 秒】前處理分四步。第一步篩選與分類：移除判決最後附的法條全文，只看論罪段落引用的款別。第二步用規則擷取屬性，例如「行經某某路口，為警攔查」就是查獲地點，「案經某某分局」就是移送分局。第三步把地點歸到鄉鎮市區，被遮蔽的改用分局轄區。第四步抽 50 份對照全文驗證，分類全部正確，其他欄位約八成五。為了讓結果可以查證，我借鏡負責的 LegalVis 論文做了右下的判決閱讀器：總覽看各法院每月判決與定位成功率，中間是抽樣判決逐段比對條文，右邊直接標出程式從哪一句抓到地點和品項，錯在哪裡一眼可見。接下來請柏翰說明研究期間與空間顆粒度。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【蕭柏翰｜約 45 秒】（接棒）接下來由我說明研究期間與空間顆粒度。這張是月別趨勢，上面酒駕、下面毒駕，量級差幾十倍所以分開畫；虛線是四次修法。可以看到 2013 年 6 月分款之後毒駕才有資料，修法前幾乎貼著底部，2024 年下半年才開始往上衝。酒駕則從每月五千多件，一路降到一千八百件左右。
因為修法造成斷點，修法前後不能直接比，判決數增加不代表毒駕行為增加。我們的作法是資料期間不設限，保留 2013 年以來的完整資料當長期對照；今天報告和期末展示則以 2024 年 1 月修法施行後為主，介面讓使用者自己刷選期間。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【蕭柏翰｜約 50 秒】老師上次提醒空間顆粒度不要只到縣市。判決公開時確實會遮蔽地址，但我們統計修法後的毒駕判決，約 43% 的查獲地點沒有遮蔽，可以到鄉鎮區甚至路口；另外 41% 雖然遮蔽，判決仍寫了移送的警察分局，分局轄區通常只涵蓋一到兩個鄉鎮區。合計 84% 可以細到鄉鎮區或分局轄區，只能到縣市的約 6.5%。
所以地圖以縣市當總覽，再下鑽到鄉鎮區和分局轄區。目前可定位到 304 個鄉鎮市區，件數最多的是臺北市大安區和萬華區。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【蕭柏翰｜約 50 秒】初步發現。左邊是修法前後的方格地圖，每個縣市一個等大方格，顏色是占該期全國毒駕的比例。因為兩期件數差了五倍，所以用占比、共用同一色階並排比較，也就是課本說的 juxtapose。
修法前以新北、高雄、桃園為主；修法後臺北從 5.6% 升到 16.2%，臺南也從 4.9% 升到 13.1%。這可能反映各地執法啟動的時間和強度不同，不能直接說臺北毒駕變多。另外屏東縣一年內增加約 4.7 倍；毒駕有肇事紀錄的只有 11%，酒駕約 32%，表示毒駕多半是路檢發現的。期末會再做人口正規化。接下來請熊恩說明相關研究與任務設計。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【熊恩｜約 35 秒】（接棒）接下來由我說明相關研究和任務設計。相關研究由四位組員各讀一篇，每篇各借一個關鍵技術。LegalVis 是巴西最高法院判決的視覺分析，我們借它在原文標示模型依據的設計；SHOC 已經變成熊恩的熱點比較器；CriPAV 處理街道層級的稀疏犯罪資料，我們借它的「機率乘強度」熱點，用在鄉鎮區下鑽；Peña-Araya 等人的實驗告訴我們，比較同一時間點的各地分布時，並列的小倍數地圖效果最好，所以圖 1 修法前後採用並列。第 12 週會由四位組員各自詳細報告。其中我負責的 SHOC，直接影響了我們的任務設計。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【熊恩｜約 45 秒】任務設計參考我負責的 SHOC 論文。SHOC 和警察機關合作，歸納出五項熱點分析任務，而且每一項都可以理解成：兩張熱點圖之間只改變一個條件。改期間就是熱點辨識與比較；期間改變但門檻固定，就是熱點演變；改時段、改案類、改門檻百分比，分別是多時段、多案類、多層級。
我們把自己的任務一一對上去，例如毒駕對酒駕熱點是否重合就是 DT4，夜間對日間是 DT3，另外加了一個修法前後的比較。品項組成和判決原文查證則是 SHOC 沒有、我們自己補的任務。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【熊恩｜約 55 秒】依照這個對照，我用真實資料做了毒駕熱點比較器，把 SHOC 的方法搬到我們的資料上。選一個任務、設定 A、B 兩組條件，兩組熱點就疊在同一張方格地圖上：藍色只在 A、橘色只在 B、黃色是共同熱點。
這個例子是 A 毒駕、B 酒駕，可以看到兩者的熱點幾乎不重疊，共同熱點只有嘉義市，臺北和臺南只是毒駕熱點。這正好回答 T3：毒駕和酒駕的熱點並不相同。右邊的 dumbbell plot 則列出每個縣市在兩個條件下的相對倍數。接下來請聖偉介紹天氣與時段分析。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【林聖偉｜約 55 秒】（接棒）接下來由我介紹毒駕與天氣分析。我從判決擷取犯罪日期和時刻，可以定位到縣市的有 41 萬多件，再合併 22 縣市每天的氣溫和降雨。兩個發現：第一，修法後的毒駕有 52% 發生在晚上 8 點到凌晨 4 點，晚上 11 點最多，這就是我們新增的 T7。第二，控制縣市、月份和星期之後，氣溫每升高 1 度，毒駕案件率大約增加 2.8%，但酒駕幾乎一樣，雨天的效果也不顯著，所以天氣我們列為延伸分析，時段分析則直接納入主系統。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【林聖偉｜約 40 秒】這張是同一個儀表板裡的時空雙變數圖。每個縣市一格，長條高度是毒駕、顏色深淺是酒駕，依 Peña-Araya 的建議，也可切換成年度小倍數。可以看到 2024 年幾乎所有縣市的毒駕同時躍升，22 個縣市有 20 個增加；同期 17 個縣市的酒駕不到各自高峰的一半，只有臺東、南投例外。這是修法與執法的共同趨勢，不代表酒駕者轉成毒駕。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【林聖偉｜約 35 秒】期末會把這些整合成一個多視圖連動的系統。方格地圖做總覽、時間軸刷選期間，中間是熊恩的熱點比較與我的時段、雙變數視圖，最後是判決原文，用黃底標出擷取來源句供查證，參考 LegalVis。所有視圖互相連動。
柏翰另外設計了路檢規劃工具，用事故多、查獲少的查獲缺口推薦路檢點，還能用下一期事故回測。這需要路口層級的事故和人流資料，所以目前是延伸構想，期末會先確認資料拿不拿得到。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【林聖偉｜約 25 秒】接下來的工作：依抽樣核對的錯誤修正擷取規則、補人口資料做每十萬人判決率、把毒品品項改成只從尿檢結果句擷取，以及建立警察分局對鄉鎮區的對照；第 13 到 15 週把三個原型整合成同一個系統，並邀請司法或警政實務者做任務導向評估。主要挑戰是：判決數反映執法強度、不等於實際發生率；約四成地點被遮蔽；以及兩種時間基準要清楚說明。以上是我們第一組的報告，謝謝。提問的部分由組長一桂主持，相關問題會請負責的組員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備用頁：報告時不播放。被問到時，切換到對應題號的頁面。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為什麼用件數、不用每十萬人？
建議回答：件數主要反映人口：新北人口約為嘉義市 15 倍。目前先用件數／占比，期末以內政部年底人口正規化為每十萬人判決率；熊恩原型已用每十萬人每月件數判定熱點。
Q2 程式擷取準不準？
建議回答：抽樣 50 份對照全文（熊恩複核）：分類 100%、縣市 84%、鄉鎮區 86%、分局 88%、品項 86%、肇事 92%、地點句 72%。品項錯誤都是多列扣案物，期末改從尿檢結果句擷取。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判決數能代表毒駕實際發生嗎？
建議回答：不能。判決＝取締 × 起訴 × 判決，受執法強度影響；酒測超標未驗毒、緩起訴、只受行政罰者都不在資料中。我們稱「判決分布」，不稱「發生率」，並標示在介面上。
Q4 資料期間不設限，修法前後怎麼比？
建議回答：修法前後成立門檻不同，件數不能直接比。保留 2013 起的完整資料作長期對照，呈現以 2024/01 後為主；跨期比較用占比（圖 1），並把 2024 視為起步期、以半年比較。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Q5 為什麼毒駕有 15,077 與 8,487 兩個數字？
建議回答：時間基準不同：15,077 依裁判日期，含全部毒駕判決；8,487 依犯罪日期，只計能定位到縣市、擷取得到日期者，且近期尚未判決（右設限）。每張圖都標示所用基準。
Q6 地點被遮蔽的案件怎麼處理？
建議回答：改用判決所載移送警察分局當替代單位（41%），分局轄區多涵蓋 1–2 個鄉鎮區；只到縣市者 6.5%，無法定位者 9.5% 揭露於介面，不硬塞進地圖。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Q7 為什麼用方格地圖，不用真實地圖？
建議回答：臺灣都會區面積小、人口多，面量圖會讓臺北、新北等格子太小看不清（Nusrat &amp; Kobourov, 2016）。方格地圖每縣市等大、保留相對位置；下鑽到鄉鎮區才用真實地圖。
Q8 SHOC 用 KDE，你們用縣市排序，差在哪？
建議回答：SHOC 以點位做核密度估計（KDE）再取等值線；我們多數案件只能到行政區，所以用「依每十萬人件數排序、累計達門檻」模擬其門檻概念。地點可定位者，期末可在鄉鎮區層級試做。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Q9 天氣分析能說明因果嗎？
建議回答：不能，只是相關。準 Poisson 迴歸已控制縣市、年月、星期固定效果，氣溫 IRR 1.028（95% CI 1.016–1.041），但酒駕幾乎相同（1.029），可能反映夜間活動或執法安排，故列為延伸分析。
Q10 依托咪酯的比例可信嗎？
建議回答：可能偏高。抽樣發現程式會把扣案菸彈內的依托咪酯當成檢出品項。依托咪酯自 2024/12 起出現在判決中；期末改從「尿液檢驗結果」句擷取後重畫圖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Q11 酒駕判決為什麼一直下降？
建議回答：可能受執法、法規與疫情等多重因素影響（如 2021 年中明顯下降），本專題不做因果解讀。酒駕在本專題是比較基準，主要用來看熱點是否與毒駕重合（T3）。
Q12 路檢規劃工具做得出來嗎？
建議回答：目前是模擬資料。需要路口層級的毒駕事故（交通事故資料是否有「毒駕」欄位待確認）與電信人流資料；期末先評估可得性，可行才納入，否則以鄉鎮區層級的查獲缺口呈現。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Q13 三個原型怎麼整合？
建議回答：共用同一份逐案資料與篩選狀態：方格地圖與時間軸為總覽，熱點比較器、時段熱圖、品項熱圖為分析視圖，判決原文為細節。技術上統一用 D3.js，期末合併成單一網頁。
Q14 有沒有個資或倫理問題？
建議回答：只用司法院公開、已去識別化的判決；介面不顯示姓名，單一判決以連結導向司法院官方全文；分析以地區與期間的聚合為主，不做個人層級推論。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各縣市品項組成不同：例如臺中市愷他命比例最高（62%），新北、彰化、基隆以甲基安非他命為主。依托咪酯、海洛因比例可能偏高（見 Q10）。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分工原則：各自報告自己負責的資料、論文或原型；每位約 2–3 分鐘，交棒時說一句「接下來請某某說明……」。Q&amp;A 建議分工：資料與擷取（Q1–Q6、Q10、Q14）由一桂；空間與地圖（Q6、Q7、Q12）由柏翰；SHOC 與熱點（Q8、Q13）由熊恩；天氣與時段（Q9、Q11）由聖偉。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（聖偉收尾）以上是我們第一組的期中報告，報告完畢，敬請老師與同學指教。接下來 5 分鐘開放討論，歡迎提問與建議；遇到預擬題目時，跳至後面 Q&amp;A 備用頁回答。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備用頁：報告時不播放。Q15 由莊一桂回答（閱讀器定位為系統細節層、回到原文）；Q16 由莊一桂回答（TF-IDF＋角度相似度，附錄法條不計，只作導讀）。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22960"/>
            <a:ext cx="502920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60320"/>
            <a:ext cx="50292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資訊視覺化期末專題 期中報告｜第一組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9" Type="http://schemas.openxmlformats.org/officeDocument/2006/relationships/image" Target="../media/image_reader0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2296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毒駕案件之時空分布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視覺化分析</a:t>
            </a:r>
            <a:endParaRPr lang="en-US" sz="3400" dirty="0"/>
          </a:p>
        </p:txBody>
      </p:sp>
      <p:pic>
        <p:nvPicPr>
          <p:cNvPr id="3" name="cover-art" descr="/home/claude/prop/mid/cover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74320"/>
            <a:ext cx="3108960" cy="370114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B0D0"/>
                </a:solidFill>
              </a:rPr>
              <a:t>修法後各縣市毒駕占比（方格地圖）與 2013–2026 月別判決數</a:t>
            </a:r>
            <a:endParaRPr lang="en-US" sz="8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603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以司法院裁判書開放資料為例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資訊視覺化 期末專題 期中報告｜第一組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莊一桂 114971021</a:t>
            </a:r>
            <a:r>
              <a:rPr lang="en-US" sz="1000" dirty="0">
                <a:solidFill>
                  <a:schemeClr val="bg2"/>
                </a:solidFill>
              </a:rPr>
              <a:t>（組長）</a:t>
            </a:r>
            <a:r>
              <a:rPr lang="en-US" sz="1400" dirty="0">
                <a:solidFill>
                  <a:schemeClr val="bg2"/>
                </a:solidFill>
              </a:rPr>
              <a:t>　 </a:t>
            </a:r>
            <a:r>
              <a:rPr lang="en-US" sz="1400" dirty="0" err="1">
                <a:solidFill>
                  <a:schemeClr val="bg2"/>
                </a:solidFill>
              </a:rPr>
              <a:t>熊恩</a:t>
            </a:r>
            <a:r>
              <a:rPr lang="en-US" sz="1400" dirty="0">
                <a:solidFill>
                  <a:schemeClr val="bg2"/>
                </a:solidFill>
              </a:rPr>
              <a:t> 114971007</a:t>
            </a:r>
            <a:endParaRPr lang="en-US" sz="16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蕭柏翰 115971013　</a:t>
            </a:r>
            <a:r>
              <a:rPr lang="zh-TW" altLang="en-US" sz="1400" dirty="0">
                <a:solidFill>
                  <a:schemeClr val="bg2"/>
                </a:solidFill>
              </a:rPr>
              <a:t>　　    </a:t>
            </a:r>
            <a:r>
              <a:rPr lang="en-US" sz="1400" dirty="0" err="1">
                <a:solidFill>
                  <a:schemeClr val="bg2"/>
                </a:solidFill>
              </a:rPr>
              <a:t>林聖偉</a:t>
            </a:r>
            <a:r>
              <a:rPr lang="en-US" sz="1400" dirty="0">
                <a:solidFill>
                  <a:schemeClr val="bg2"/>
                </a:solidFill>
              </a:rPr>
              <a:t> 115971011</a:t>
            </a:r>
            <a:endParaRPr lang="en-US" sz="1600" dirty="0"/>
          </a:p>
          <a:p>
            <a:pPr marL="0" indent="0" algn="l">
              <a:buNone/>
            </a:pPr>
            <a:r>
              <a:rPr lang="en-US" sz="1100" dirty="0">
                <a:solidFill>
                  <a:schemeClr val="bg2"/>
                </a:solidFill>
              </a:rPr>
              <a:t>簡報 v16.01（依據書面報告 v16，2026/10/26）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大綱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2642616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大綱 Agenda</a:t>
            </a:r>
            <a:endParaRPr lang="en-US" sz="1800" dirty="0"/>
          </a:p>
        </p:txBody>
      </p:sp>
      <p:sp>
        <p:nvSpPr>
          <p:cNvPr id="6" name="ag-01"/>
          <p:cNvSpPr/>
          <p:nvPr/>
        </p:nvSpPr>
        <p:spPr>
          <a:xfrm>
            <a:off x="457200" y="100584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ag-num-01"/>
          <p:cNvSpPr/>
          <p:nvPr/>
        </p:nvSpPr>
        <p:spPr>
          <a:xfrm>
            <a:off x="457200" y="1005840"/>
            <a:ext cx="777240" cy="7132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0584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060704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研究動機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1399032"/>
            <a:ext cx="3017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報告人：莊一桂</a:t>
            </a:r>
            <a:endParaRPr lang="en-US" sz="1100" dirty="0"/>
          </a:p>
        </p:txBody>
      </p:sp>
      <p:sp>
        <p:nvSpPr>
          <p:cNvPr id="11" name="ag-02"/>
          <p:cNvSpPr/>
          <p:nvPr/>
        </p:nvSpPr>
        <p:spPr>
          <a:xfrm>
            <a:off x="457200" y="1847088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ag-num-02"/>
          <p:cNvSpPr/>
          <p:nvPr/>
        </p:nvSpPr>
        <p:spPr>
          <a:xfrm>
            <a:off x="457200" y="1847088"/>
            <a:ext cx="777240" cy="7132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84708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1901952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資料與前處理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報告人：莊一桂</a:t>
            </a:r>
            <a:endParaRPr lang="en-US" sz="1100" dirty="0"/>
          </a:p>
        </p:txBody>
      </p:sp>
      <p:sp>
        <p:nvSpPr>
          <p:cNvPr id="16" name="ag-03"/>
          <p:cNvSpPr/>
          <p:nvPr/>
        </p:nvSpPr>
        <p:spPr>
          <a:xfrm>
            <a:off x="457200" y="2688336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ag-num-03"/>
          <p:cNvSpPr/>
          <p:nvPr/>
        </p:nvSpPr>
        <p:spPr>
          <a:xfrm>
            <a:off x="457200" y="2688336"/>
            <a:ext cx="777240" cy="7132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68833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研究期間與空間顆粒度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081528"/>
            <a:ext cx="3017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報告人：蕭柏翰</a:t>
            </a:r>
            <a:endParaRPr lang="en-US" sz="1100" dirty="0"/>
          </a:p>
        </p:txBody>
      </p:sp>
      <p:sp>
        <p:nvSpPr>
          <p:cNvPr id="21" name="ag-04"/>
          <p:cNvSpPr/>
          <p:nvPr/>
        </p:nvSpPr>
        <p:spPr>
          <a:xfrm>
            <a:off x="457200" y="3529584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ag-num-04"/>
          <p:cNvSpPr/>
          <p:nvPr/>
        </p:nvSpPr>
        <p:spPr>
          <a:xfrm>
            <a:off x="457200" y="3529584"/>
            <a:ext cx="777240" cy="7132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29584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3584448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初步發現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3922776"/>
            <a:ext cx="3017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報告人：蕭柏翰</a:t>
            </a:r>
            <a:endParaRPr lang="en-US" sz="1100" dirty="0"/>
          </a:p>
        </p:txBody>
      </p:sp>
      <p:sp>
        <p:nvSpPr>
          <p:cNvPr id="26" name="ag-05"/>
          <p:cNvSpPr/>
          <p:nvPr/>
        </p:nvSpPr>
        <p:spPr>
          <a:xfrm>
            <a:off x="4663440" y="100584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ag-num-05"/>
          <p:cNvSpPr/>
          <p:nvPr/>
        </p:nvSpPr>
        <p:spPr>
          <a:xfrm>
            <a:off x="4663440" y="1005840"/>
            <a:ext cx="777240" cy="7132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63440" y="1005840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1060704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相關研究與任務設計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77840" y="1399032"/>
            <a:ext cx="3017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報告人：熊恩</a:t>
            </a:r>
            <a:endParaRPr lang="en-US" sz="1100" dirty="0"/>
          </a:p>
        </p:txBody>
      </p:sp>
      <p:sp>
        <p:nvSpPr>
          <p:cNvPr id="31" name="ag-06"/>
          <p:cNvSpPr/>
          <p:nvPr/>
        </p:nvSpPr>
        <p:spPr>
          <a:xfrm>
            <a:off x="4663440" y="1847088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ag-num-06"/>
          <p:cNvSpPr/>
          <p:nvPr/>
        </p:nvSpPr>
        <p:spPr>
          <a:xfrm>
            <a:off x="4663440" y="1847088"/>
            <a:ext cx="777240" cy="7132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63440" y="1847088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5577840" y="1901952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組員原型：熱點比較、天氣與時段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7784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報告人：熊恩、林聖偉</a:t>
            </a:r>
            <a:endParaRPr lang="en-US" sz="1100" dirty="0"/>
          </a:p>
        </p:txBody>
      </p:sp>
      <p:sp>
        <p:nvSpPr>
          <p:cNvPr id="36" name="ag-07"/>
          <p:cNvSpPr/>
          <p:nvPr/>
        </p:nvSpPr>
        <p:spPr>
          <a:xfrm>
            <a:off x="4663440" y="2688336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ag-num-07"/>
          <p:cNvSpPr/>
          <p:nvPr/>
        </p:nvSpPr>
        <p:spPr>
          <a:xfrm>
            <a:off x="4663440" y="2688336"/>
            <a:ext cx="777240" cy="71323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63440" y="2688336"/>
            <a:ext cx="77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07</a:t>
            </a:r>
            <a:endParaRPr lang="en-US" sz="2200" dirty="0"/>
          </a:p>
        </p:txBody>
      </p:sp>
      <p:sp>
        <p:nvSpPr>
          <p:cNvPr id="39" name="Text 37"/>
          <p:cNvSpPr txBox="1"/>
          <p:nvPr/>
        </p:nvSpPr>
        <p:spPr>
          <a:xfrm>
            <a:off x="557784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系統整合與下一步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577840" y="3081528"/>
            <a:ext cx="30175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報告人：林聖偉</a:t>
            </a:r>
            <a:endParaRPr lang="en-US" sz="1100" dirty="0"/>
          </a:p>
        </p:txBody>
      </p:sp>
      <p:sp>
        <p:nvSpPr>
          <p:cNvPr id="41" name="ag-qa"/>
          <p:cNvSpPr/>
          <p:nvPr/>
        </p:nvSpPr>
        <p:spPr>
          <a:xfrm>
            <a:off x="4663440" y="352958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00600" y="3584448"/>
            <a:ext cx="3749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Q&amp;A（5 分鐘）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800600" y="3922776"/>
            <a:ext cx="3749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組長主持，依題目由負責組員回答</a:t>
            </a:r>
            <a:endParaRPr lang="en-US" sz="11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修法後毒駕判決暴增，但官方統計看不到「在哪裡、何時」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240487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01  </a:t>
            </a:r>
            <a:r>
              <a:rPr lang="en-US" sz="1800" b="1" dirty="0">
                <a:solidFill>
                  <a:schemeClr val="bg1"/>
                </a:solidFill>
              </a:rPr>
              <a:t>研究動機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報告人：莊一桂</a:t>
            </a:r>
            <a:endParaRPr lang="en-US" sz="900" dirty="0"/>
          </a:p>
        </p:txBody>
      </p:sp>
      <p:sp>
        <p:nvSpPr>
          <p:cNvPr id="7" name="stat-card"/>
          <p:cNvSpPr/>
          <p:nvPr/>
        </p:nvSpPr>
        <p:spPr>
          <a:xfrm>
            <a:off x="457200" y="960120"/>
            <a:ext cx="365760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修法前（2013/06–2023/12）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每月約 12 件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2026 年 7 月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68880"/>
            <a:ext cx="3200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1,212 件／月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32004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關鍵：2023/12/27 修法，第 3 款改採「毒品濃度值」，檢出達標即可論罪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960120"/>
            <a:ext cx="4297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想回答的問題（任務 T1–T7）</a:t>
            </a:r>
            <a:endParaRPr lang="en-US" sz="1500" dirty="0"/>
          </a:p>
        </p:txBody>
      </p:sp>
      <p:sp>
        <p:nvSpPr>
          <p:cNvPr id="14" name="dot-T1"/>
          <p:cNvSpPr/>
          <p:nvPr/>
        </p:nvSpPr>
        <p:spPr>
          <a:xfrm>
            <a:off x="4434840" y="138988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4840" y="145389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417320"/>
            <a:ext cx="38404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毒駕集中在哪些縣市？</a:t>
            </a:r>
            <a:endParaRPr lang="en-US" sz="1300" dirty="0"/>
          </a:p>
        </p:txBody>
      </p:sp>
      <p:sp>
        <p:nvSpPr>
          <p:cNvPr id="17" name="dot-T2"/>
          <p:cNvSpPr/>
          <p:nvPr/>
        </p:nvSpPr>
        <p:spPr>
          <a:xfrm>
            <a:off x="4434840" y="183794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190195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1865376"/>
            <a:ext cx="38404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隨修法如何變化？各地何時增加？</a:t>
            </a:r>
            <a:endParaRPr lang="en-US" sz="1300" dirty="0"/>
          </a:p>
        </p:txBody>
      </p:sp>
      <p:sp>
        <p:nvSpPr>
          <p:cNvPr id="20" name="dot-T3"/>
          <p:cNvSpPr/>
          <p:nvPr/>
        </p:nvSpPr>
        <p:spPr>
          <a:xfrm>
            <a:off x="4434840" y="22860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34840" y="235000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2313432"/>
            <a:ext cx="38404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毒駕與酒駕熱點是否相同？</a:t>
            </a:r>
            <a:endParaRPr lang="en-US" sz="1300" dirty="0"/>
          </a:p>
        </p:txBody>
      </p:sp>
      <p:sp>
        <p:nvSpPr>
          <p:cNvPr id="23" name="dot-T4"/>
          <p:cNvSpPr/>
          <p:nvPr/>
        </p:nvSpPr>
        <p:spPr>
          <a:xfrm>
            <a:off x="4434840" y="273405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27980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2761488"/>
            <a:ext cx="38404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各地主要毒品是否不同？</a:t>
            </a:r>
            <a:endParaRPr lang="en-US" sz="1300" dirty="0"/>
          </a:p>
        </p:txBody>
      </p:sp>
      <p:sp>
        <p:nvSpPr>
          <p:cNvPr id="26" name="dot-T5"/>
          <p:cNvSpPr/>
          <p:nvPr/>
        </p:nvSpPr>
        <p:spPr>
          <a:xfrm>
            <a:off x="4434840" y="31821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34840" y="32461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92040" y="3209544"/>
            <a:ext cx="38404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哪些鄉鎮區／分局轄區異常集中？</a:t>
            </a:r>
            <a:endParaRPr lang="en-US" sz="1300" dirty="0"/>
          </a:p>
        </p:txBody>
      </p:sp>
      <p:sp>
        <p:nvSpPr>
          <p:cNvPr id="29" name="dot-T6"/>
          <p:cNvSpPr/>
          <p:nvPr/>
        </p:nvSpPr>
        <p:spPr>
          <a:xfrm>
            <a:off x="4434840" y="36301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34840" y="369417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892040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查看單一判決的查獲經過</a:t>
            </a:r>
            <a:endParaRPr lang="en-US" sz="1300" dirty="0"/>
          </a:p>
        </p:txBody>
      </p:sp>
      <p:sp>
        <p:nvSpPr>
          <p:cNvPr id="32" name="dot-T7"/>
          <p:cNvSpPr/>
          <p:nvPr/>
        </p:nvSpPr>
        <p:spPr>
          <a:xfrm>
            <a:off x="4434840" y="4078224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34840" y="414223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T7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4105656"/>
            <a:ext cx="38404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集中在一天中的哪些時段？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資料：從裁判書開放資料篩出 59 萬件 §185-3 判決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929384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  </a:t>
            </a:r>
            <a:r>
              <a:rPr lang="en-US" sz="1800" b="1" dirty="0">
                <a:solidFill>
                  <a:schemeClr val="bg1"/>
                </a:solidFill>
              </a:rPr>
              <a:t>資料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報告人：莊一桂</a:t>
            </a:r>
            <a:endParaRPr lang="en-US" sz="900" dirty="0"/>
          </a:p>
        </p:txBody>
      </p:sp>
      <p:sp>
        <p:nvSpPr>
          <p:cNvPr id="7" name="step-0"/>
          <p:cNvSpPr/>
          <p:nvPr/>
        </p:nvSpPr>
        <p:spPr>
          <a:xfrm>
            <a:off x="457200" y="96012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033272"/>
            <a:ext cx="1691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裁判書開放資料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417320"/>
            <a:ext cx="16916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2011–2026 每月 RAR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取地院／簡易庭刑事</a:t>
            </a:r>
            <a:endParaRPr lang="en-US" sz="1100" dirty="0"/>
          </a:p>
        </p:txBody>
      </p:sp>
      <p:sp>
        <p:nvSpPr>
          <p:cNvPr id="10" name="arrow-0"/>
          <p:cNvSpPr/>
          <p:nvPr/>
        </p:nvSpPr>
        <p:spPr>
          <a:xfrm rot="5400000">
            <a:off x="2359152" y="1627632"/>
            <a:ext cx="164592" cy="18288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step-1"/>
          <p:cNvSpPr/>
          <p:nvPr/>
        </p:nvSpPr>
        <p:spPr>
          <a:xfrm>
            <a:off x="2560320" y="96012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0048" y="1033272"/>
            <a:ext cx="1691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§185-3 判決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417320"/>
            <a:ext cx="16916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594,297 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2013/01–2026/07</a:t>
            </a:r>
            <a:endParaRPr lang="en-US" sz="1100" dirty="0"/>
          </a:p>
        </p:txBody>
      </p:sp>
      <p:sp>
        <p:nvSpPr>
          <p:cNvPr id="14" name="arrow-1"/>
          <p:cNvSpPr/>
          <p:nvPr/>
        </p:nvSpPr>
        <p:spPr>
          <a:xfrm rot="5400000">
            <a:off x="4462272" y="1627632"/>
            <a:ext cx="164592" cy="18288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step-2"/>
          <p:cNvSpPr/>
          <p:nvPr/>
        </p:nvSpPr>
        <p:spPr>
          <a:xfrm>
            <a:off x="4663440" y="96012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73168" y="1033272"/>
            <a:ext cx="1691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tx2"/>
                </a:solidFill>
              </a:rPr>
              <a:t>依論罪款別分類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1417320"/>
            <a:ext cx="16916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1、2 款＝酒駕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3、4 款＝毒駕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排除上訴、裁定</a:t>
            </a:r>
            <a:endParaRPr lang="en-US" sz="1100" dirty="0"/>
          </a:p>
        </p:txBody>
      </p:sp>
      <p:sp>
        <p:nvSpPr>
          <p:cNvPr id="18" name="arrow-2"/>
          <p:cNvSpPr/>
          <p:nvPr/>
        </p:nvSpPr>
        <p:spPr>
          <a:xfrm rot="5400000">
            <a:off x="6565392" y="1627632"/>
            <a:ext cx="164592" cy="18288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step-3"/>
          <p:cNvSpPr/>
          <p:nvPr/>
        </p:nvSpPr>
        <p:spPr>
          <a:xfrm>
            <a:off x="6766560" y="96012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76288" y="1033272"/>
            <a:ext cx="1691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chemeClr val="bg1"/>
                </a:solidFill>
              </a:rPr>
              <a:t>分析資料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1417320"/>
            <a:ext cx="16916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毒駕 15,077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酒駕 577,855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（另存含全文子集）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abstraction（What）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971800"/>
            <a:ext cx="82296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類型：</a:t>
            </a:r>
            <a:r>
              <a:rPr lang="en-US" sz="1200" dirty="0">
                <a:solidFill>
                  <a:schemeClr val="tx1"/>
                </a:solidFill>
              </a:rPr>
              <a:t>Table（一份判決一個 item）＋ Spatial geometry（行政區界）；延伸分析另合併「縣市 × 日」天氣表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屬性：</a:t>
            </a:r>
            <a:r>
              <a:rPr lang="en-US" sz="1200" dirty="0">
                <a:solidFill>
                  <a:schemeClr val="tx1"/>
                </a:solidFill>
              </a:rPr>
              <a:t>原始 8 欄＋衍生 13 欄（款別、犯罪時刻、毒品品項、查獲地點、警察分局、車種、是否肇事…）＋人口、天氣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兩種時間基準：</a:t>
            </a:r>
            <a:r>
              <a:rPr lang="en-US" sz="1200" dirty="0">
                <a:solidFill>
                  <a:schemeClr val="tx1"/>
                </a:solidFill>
              </a:rPr>
              <a:t>裁判日期（每案皆有）；犯罪日期與時刻（可定位者 417,545 件，約 86% 擷取得到時刻）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Key：</a:t>
            </a:r>
            <a:r>
              <a:rPr lang="en-US" sz="1200" dirty="0">
                <a:solidFill>
                  <a:schemeClr val="tx1"/>
                </a:solidFill>
              </a:rPr>
              <a:t>JID；空間＝縣市／鄉鎮市區／警察分局轄區；時間＝年月或日；時段＝星期 × 小時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資料前處理：從判決全文到可分析的欄位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2642616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02  </a:t>
            </a:r>
            <a:r>
              <a:rPr lang="en-US" sz="1800" b="1" dirty="0">
                <a:solidFill>
                  <a:schemeClr val="bg1"/>
                </a:solidFill>
              </a:rPr>
              <a:t>資料前處理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報告人：莊一桂</a:t>
            </a:r>
            <a:endParaRPr lang="en-US" sz="900" dirty="0"/>
          </a:p>
        </p:txBody>
      </p:sp>
      <p:sp>
        <p:nvSpPr>
          <p:cNvPr id="7" name="pre-0"/>
          <p:cNvSpPr/>
          <p:nvPr/>
        </p:nvSpPr>
        <p:spPr>
          <a:xfrm>
            <a:off x="457200" y="91440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987552"/>
            <a:ext cx="1737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① 篩選與分類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71600"/>
            <a:ext cx="17373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先移除判決末「附錄」法條全文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只比對論罪所引「第185條之3第1項第X款」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排除表單名稱、修法沿革說明文字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酒毒併存以主文再判</a:t>
            </a:r>
            <a:endParaRPr lang="en-US" sz="1000" dirty="0"/>
          </a:p>
        </p:txBody>
      </p:sp>
      <p:sp>
        <p:nvSpPr>
          <p:cNvPr id="10" name="pre-arrow-0"/>
          <p:cNvSpPr/>
          <p:nvPr/>
        </p:nvSpPr>
        <p:spPr>
          <a:xfrm rot="5400000">
            <a:off x="2395728" y="1920240"/>
            <a:ext cx="146304" cy="18288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pre-1"/>
          <p:cNvSpPr/>
          <p:nvPr/>
        </p:nvSpPr>
        <p:spPr>
          <a:xfrm>
            <a:off x="2560320" y="91440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70048" y="987552"/>
            <a:ext cx="1737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② 屬性擷取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1371600"/>
            <a:ext cx="17373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查獲地點：「行經／駛至…」＋「為警攔查、盤查」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移送分局：「案經××分局」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毒品品項、犯罪時刻、車種、肇事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規則失敗者以 LLM 補強（規劃中）</a:t>
            </a:r>
            <a:endParaRPr lang="en-US" sz="1000" dirty="0"/>
          </a:p>
        </p:txBody>
      </p:sp>
      <p:sp>
        <p:nvSpPr>
          <p:cNvPr id="14" name="pre-arrow-1"/>
          <p:cNvSpPr/>
          <p:nvPr/>
        </p:nvSpPr>
        <p:spPr>
          <a:xfrm rot="5400000">
            <a:off x="4498848" y="1920240"/>
            <a:ext cx="146304" cy="18288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re-2"/>
          <p:cNvSpPr/>
          <p:nvPr/>
        </p:nvSpPr>
        <p:spPr>
          <a:xfrm>
            <a:off x="4663440" y="91440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73168" y="987552"/>
            <a:ext cx="1737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③ 空間歸屬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1371600"/>
            <a:ext cx="17373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地理編碼至鄉鎮市區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地點遮蔽者改以分局轄區對應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</a:rPr>
              <a:t>每案取最細的可用層級</a:t>
            </a:r>
            <a:endParaRPr lang="en-US" sz="1000" dirty="0"/>
          </a:p>
        </p:txBody>
      </p:sp>
      <p:sp>
        <p:nvSpPr>
          <p:cNvPr id="18" name="pre-arrow-2"/>
          <p:cNvSpPr/>
          <p:nvPr/>
        </p:nvSpPr>
        <p:spPr>
          <a:xfrm rot="5400000">
            <a:off x="6601968" y="1920240"/>
            <a:ext cx="146304" cy="182880"/>
          </a:xfrm>
          <a:prstGeom prst="rtTriangl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pre-3"/>
          <p:cNvSpPr/>
          <p:nvPr/>
        </p:nvSpPr>
        <p:spPr>
          <a:xfrm>
            <a:off x="6766560" y="91440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76288" y="987552"/>
            <a:ext cx="17373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④ 抽樣驗證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76288" y="1371600"/>
            <a:ext cx="17373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隨機 50 份對照全文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毒駕 35、酒駕 15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（熊恩複核）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分類 100%、縣市 84%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鄉鎮區 86%、分局 88%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bg1"/>
                </a:solidFill>
              </a:rPr>
              <a:t>品項 86%、肇事 92%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40" name="legalvis-strip"/>
          <p:cNvSpPr/>
          <p:nvPr/>
        </p:nvSpPr>
        <p:spPr>
          <a:xfrm>
            <a:off x="457200" y="3017520"/>
            <a:ext cx="5074920" cy="1627632"/>
          </a:xfrm>
          <a:prstGeom prst="roundRect">
            <a:avLst>
              <a:gd name="adj" fmla="val 12000"/>
            </a:avLst>
          </a:prstGeom>
          <a:solidFill>
            <a:srgbClr val="FDF0EA"/>
          </a:solidFill>
          <a:ln w="12700">
            <a:solidFill>
              <a:srgbClr val="EB6834"/>
            </a:solidFill>
          </a:ln>
        </p:spPr>
        <p:txBody>
          <a:bodyPr wrap="square" lIns="91440" tIns="91440" rIns="91440" bIns="4572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zh-TW" altLang="en-US" sz="1200" b="1" dirty="0">
                <a:solidFill>
                  <a:srgbClr val="EB6834"/>
                </a:solidFill>
              </a:rPr>
              <a:t>01 毒駕判決閱讀器</a:t>
            </a:r>
            <a:r>
              <a:rPr lang="zh-TW" altLang="en-US" sz="1050" dirty="0">
                <a:solidFill>
                  <a:srgbClr val="EB6834"/>
                </a:solidFill>
              </a:rPr>
              <a:t>（借鏡 LegalVis 三個連動視圖）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zh-TW" altLang="en-US" sz="1050" b="1" dirty="0">
                <a:solidFill>
                  <a:schemeClr val="tx1"/>
                </a:solidFill>
              </a:rPr>
              <a:t>(a) 總覽　</a:t>
            </a:r>
            <a:r>
              <a:rPr lang="zh-TW" altLang="en-US" sz="1050" dirty="0">
                <a:solidFill>
                  <a:schemeClr val="tx1"/>
                </a:solidFill>
              </a:rPr>
              <a:t>法院 × 月份；藍＝已抽出縣市、橘＝未定位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zh-TW" altLang="en-US" sz="1050" b="1" dirty="0">
                <a:solidFill>
                  <a:schemeClr val="tx1"/>
                </a:solidFill>
              </a:rPr>
              <a:t>(b) 段落　</a:t>
            </a:r>
            <a:r>
              <a:rPr lang="zh-TW" altLang="en-US" sz="1050" dirty="0">
                <a:solidFill>
                  <a:schemeClr val="tx1"/>
                </a:solidFill>
              </a:rPr>
              <a:t>50 份抽樣逐段比對條文；橘＝有欄位抽錯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zh-TW" altLang="en-US" sz="1050" b="1" dirty="0">
                <a:solidFill>
                  <a:schemeClr val="tx1"/>
                </a:solidFill>
              </a:rPr>
              <a:t>(c) 閱讀　</a:t>
            </a:r>
            <a:r>
              <a:rPr lang="zh-TW" altLang="en-US" sz="1050" dirty="0">
                <a:solidFill>
                  <a:schemeClr val="tx1"/>
                </a:solidFill>
              </a:rPr>
              <a:t>底色標出抽取來源句，與人工核對並列</a:t>
            </a:r>
          </a:p>
          <a:p>
            <a:pPr marL="0" indent="0">
              <a:spcAft>
                <a:spcPts val="0"/>
              </a:spcAft>
              <a:buNone/>
            </a:pPr>
            <a:r>
              <a:rPr lang="zh-TW" altLang="en-US" sz="950" dirty="0">
                <a:solidFill>
                  <a:srgbClr val="6B7385"/>
                </a:solidFill>
              </a:rPr>
              <a:t>點長條 → 該月判決清單 → 司法院原文；錯在哪一句一眼可見</a:t>
            </a:r>
          </a:p>
        </p:txBody>
      </p:sp>
      <p:pic>
        <p:nvPicPr>
          <p:cNvPr id="60" name="reader-shot" descr="01 毒駕判決閱讀器截圖：總覽、段落相似度、判決閱讀器三個連動視圖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1046" y="3017520"/>
            <a:ext cx="2615753" cy="1627632"/>
          </a:xfrm>
          <a:prstGeom prst="rect">
            <a:avLst/>
          </a:prstGeom>
          <a:ln w="9525">
            <a:solidFill>
              <a:srgbClr val="C9CED8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修法造成斷點：資料期間不設限，呈現以修法後為主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240487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  </a:t>
            </a:r>
            <a:r>
              <a:rPr lang="en-US" sz="1800" b="1" dirty="0">
                <a:solidFill>
                  <a:schemeClr val="bg1"/>
                </a:solidFill>
              </a:rPr>
              <a:t>研究期間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報告人：蕭柏翰</a:t>
            </a:r>
            <a:endParaRPr lang="en-US" sz="900" dirty="0"/>
          </a:p>
        </p:txBody>
      </p:sp>
      <p:pic>
        <p:nvPicPr>
          <p:cNvPr id="7" name="fig2" descr="/home/claude/prop/mid/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41248"/>
            <a:ext cx="5120640" cy="37213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0" y="96012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2013/06 分款：毒品獨立為第 3 款，毒駕才能與酒駕區分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2019、2022 修正：加重再犯、提高刑度，未改構成要件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2023/12/27：改採濃度值 → 2024 下半年起暴增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資料涵蓋 2013–2026 全期；口頭報告與展示以 2024/01 後為主，2024 年視為執法起步期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介面可自行刷選期間（參考熊恩原型）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回應老師：判決雖遮蔽地址，84% 仍可細到鄉鎮區或分局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2642616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03  </a:t>
            </a:r>
            <a:r>
              <a:rPr lang="en-US" sz="1800" b="1" dirty="0">
                <a:solidFill>
                  <a:schemeClr val="bg1"/>
                </a:solidFill>
              </a:rPr>
              <a:t>空間顆粒度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報告人：蕭柏翰</a:t>
            </a:r>
            <a:endParaRPr lang="en-US" sz="900" dirty="0"/>
          </a:p>
        </p:txBody>
      </p:sp>
      <p:graphicFrame>
        <p:nvGraphicFramePr>
          <p:cNvPr id="7" name="granularity-chart"/>
          <p:cNvGraphicFramePr/>
          <p:nvPr/>
        </p:nvGraphicFramePr>
        <p:xfrm>
          <a:off x="457200" y="914400"/>
          <a:ext cx="493776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gran-card"/>
          <p:cNvSpPr/>
          <p:nvPr/>
        </p:nvSpPr>
        <p:spPr>
          <a:xfrm>
            <a:off x="5669280" y="960120"/>
            <a:ext cx="3017520" cy="356616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做法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444752"/>
            <a:ext cx="2743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例：「行經臺南市○○區○○路000號前」→ 區被遮蔽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改用判決所載「案經××分局」當替代單位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地圖：縣市總覽 → 鄉鎮區／分局轄區下鑽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可定位到 304 個鄉鎮市區；最多：臺北市大安區 332、萬華區 253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初步發現：修法前後，毒駕的空間結構不同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240487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04  </a:t>
            </a:r>
            <a:r>
              <a:rPr lang="en-US" sz="1800" b="1" dirty="0">
                <a:solidFill>
                  <a:schemeClr val="bg1"/>
                </a:solidFill>
              </a:rPr>
              <a:t>初步發現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報告人：蕭柏翰</a:t>
            </a:r>
            <a:endParaRPr lang="en-US" sz="900" dirty="0"/>
          </a:p>
        </p:txBody>
      </p:sp>
      <p:pic>
        <p:nvPicPr>
          <p:cNvPr id="7" name="fig1" descr="/home/claude/prop/mid/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41248"/>
            <a:ext cx="4526280" cy="3644348"/>
          </a:xfrm>
          <a:prstGeom prst="rect">
            <a:avLst/>
          </a:prstGeom>
        </p:spPr>
      </p:pic>
      <p:sp>
        <p:nvSpPr>
          <p:cNvPr id="8" name="fact-0"/>
          <p:cNvSpPr/>
          <p:nvPr/>
        </p:nvSpPr>
        <p:spPr>
          <a:xfrm>
            <a:off x="5074920" y="914400"/>
            <a:ext cx="365760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12080" y="987552"/>
            <a:ext cx="3383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5.6% → 16.2%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1444752"/>
            <a:ext cx="3383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臺北市占全國毒駕比例（修法前 → 後）；臺南 4.9% → 13.1%</a:t>
            </a:r>
            <a:endParaRPr lang="en-US" sz="1150" dirty="0"/>
          </a:p>
        </p:txBody>
      </p:sp>
      <p:sp>
        <p:nvSpPr>
          <p:cNvPr id="11" name="fact-1"/>
          <p:cNvSpPr/>
          <p:nvPr/>
        </p:nvSpPr>
        <p:spPr>
          <a:xfrm>
            <a:off x="5074920" y="2121408"/>
            <a:ext cx="365760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4.7 倍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212080" y="2651760"/>
            <a:ext cx="3383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屏東縣 2026 上半年 vs 2025 上半年（48 → 227 件），增加最快</a:t>
            </a:r>
            <a:endParaRPr lang="en-US" sz="1150" dirty="0"/>
          </a:p>
        </p:txBody>
      </p:sp>
      <p:sp>
        <p:nvSpPr>
          <p:cNvPr id="14" name="fact-2"/>
          <p:cNvSpPr/>
          <p:nvPr/>
        </p:nvSpPr>
        <p:spPr>
          <a:xfrm>
            <a:off x="5074920" y="3328416"/>
            <a:ext cx="3657600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12080" y="3401568"/>
            <a:ext cx="3383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11% vs 32%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3858768"/>
            <a:ext cx="3383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有肇事紀錄比例：毒駕 vs 酒駕 → 毒駕多經路檢攔查發現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553712"/>
            <a:ext cx="777240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註：圖為各期占比（依犯罪日期，逐案資料由林聖偉整理）；件數尚未人口正規化，期末改為每十萬人判決率。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相關研究：每篇各借一個關鍵技術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240487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05  </a:t>
            </a:r>
            <a:r>
              <a:rPr lang="en-US" sz="1800" b="1" dirty="0">
                <a:solidFill>
                  <a:schemeClr val="bg1"/>
                </a:solidFill>
              </a:rPr>
              <a:t>相關研究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報告人：熊恩</a:t>
            </a:r>
            <a:endParaRPr lang="en-US" sz="900" dirty="0"/>
          </a:p>
        </p:txBody>
      </p:sp>
      <p:sp>
        <p:nvSpPr>
          <p:cNvPr id="7" name="paper-0"/>
          <p:cNvSpPr/>
          <p:nvPr/>
        </p:nvSpPr>
        <p:spPr>
          <a:xfrm>
            <a:off x="457200" y="9601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LegalVis（TVCG 2023）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負責：莊一桂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模型結果＋原文句段標示 → 視圖④（T6）</a:t>
            </a:r>
            <a:endParaRPr lang="en-US" sz="1300" dirty="0"/>
          </a:p>
        </p:txBody>
      </p:sp>
      <p:sp>
        <p:nvSpPr>
          <p:cNvPr id="11" name="paper-1"/>
          <p:cNvSpPr/>
          <p:nvPr/>
        </p:nvSpPr>
        <p:spPr>
          <a:xfrm>
            <a:off x="4663440" y="9601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SHOC（EuroVis 2020）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負責：熊恩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與警政專家定義任務、熱點疊合比較 → 原型①</a:t>
            </a:r>
            <a:endParaRPr lang="en-US" sz="1300" dirty="0"/>
          </a:p>
        </p:txBody>
      </p:sp>
      <p:sp>
        <p:nvSpPr>
          <p:cNvPr id="15" name="paper-2"/>
          <p:cNvSpPr/>
          <p:nvPr/>
        </p:nvSpPr>
        <p:spPr>
          <a:xfrm>
            <a:off x="457200" y="27432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CriPAV（TVCG 2022）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負責：蕭柏翰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11880"/>
            <a:ext cx="3657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稀疏資料的「機率 × 強度」熱點 → 鄉鎮區下鑽（T5）</a:t>
            </a:r>
            <a:endParaRPr lang="en-US" sz="1300" dirty="0"/>
          </a:p>
        </p:txBody>
      </p:sp>
      <p:sp>
        <p:nvSpPr>
          <p:cNvPr id="19" name="paper-3"/>
          <p:cNvSpPr/>
          <p:nvPr/>
        </p:nvSpPr>
        <p:spPr>
          <a:xfrm>
            <a:off x="4663440" y="27432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Peña-Araya et al.（TVCG 2020）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負責：林聖偉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11880"/>
            <a:ext cx="3657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依時空粒度選圖：小倍數 vs 單圖 → 圖 1 並列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任務設計：依 SHOC「每次只改變一個條件」對照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240487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05  </a:t>
            </a:r>
            <a:r>
              <a:rPr lang="en-US" sz="1800" b="1" dirty="0">
                <a:solidFill>
                  <a:schemeClr val="bg1"/>
                </a:solidFill>
              </a:rPr>
              <a:t>任務設計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報告人：熊恩</a:t>
            </a:r>
            <a:endParaRPr lang="en-US" sz="900" dirty="0"/>
          </a:p>
        </p:txBody>
      </p:sp>
      <p:graphicFrame>
        <p:nvGraphicFramePr>
          <p:cNvPr id="11" name="shoc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68833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SHOC 任務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只改變的條件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本組做法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任務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DT1 熱點辨識與比較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期間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前後兩個半年各取熱點，看哪些縣市進出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T1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DT2 熱點演變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期間（門檻固定）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 沿用 A 的門檻，熱點擴大或縮小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T2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DT3 多時段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一天中的時段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夜間 vs 日間的毒駕熱點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T7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DT4 多案類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案類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毒駕 vs 酒駕熱點是否重合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T3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DT5 多層級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門檻百分比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30% 核心熱點 vs 60% 外圍熱點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T5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（延伸）修法前後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期間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2013–2023 vs 修法後的毒駕熱點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T1、T2</a:t>
                      </a:r>
                      <a:endParaRPr lang="en-US" sz="12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SHOC：de Queiroz Neto et al., EuroVis 2020（熊恩負責）。另以 T4 品項組成、T6 判決原文查證補足。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組員原型①：毒駕熱點比較器（熊恩，D3.js，真實資料）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3355848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3127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06  </a:t>
            </a:r>
            <a:r>
              <a:rPr lang="en-US" sz="1800" b="1" dirty="0">
                <a:solidFill>
                  <a:schemeClr val="bg1"/>
                </a:solidFill>
              </a:rPr>
              <a:t>原型① 熱點比較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報告人：熊恩</a:t>
            </a:r>
            <a:endParaRPr lang="en-US" sz="900" dirty="0"/>
          </a:p>
        </p:txBody>
      </p:sp>
      <p:pic>
        <p:nvPicPr>
          <p:cNvPr id="7" name="proto-02" descr="/home/claude/prop/mid/img_p02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41248"/>
            <a:ext cx="4754880" cy="37002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303520" y="914400"/>
            <a:ext cx="3429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移植 SHOC：兩組條件的熱點疊在同一張方格地圖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集合運算：只在 A／只在 B／共同熱點（黃）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熱點＝依每十萬人每月件數排序，累計達門檻（30%）的縣市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右側 dumbbell 比較逐縣市相對全國倍數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範例（毒駕 vs 酒駕）：共同熱點只有嘉義市；臺北、臺南只是毒駕熱點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組員原型②：毒駕與天氣分析（林聖偉，D3.js，真實資料）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359359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06  </a:t>
            </a:r>
            <a:r>
              <a:rPr lang="en-US" sz="1800" b="1" dirty="0">
                <a:solidFill>
                  <a:schemeClr val="bg1"/>
                </a:solidFill>
              </a:rPr>
              <a:t>原型② 天氣與時段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報告人：林聖偉</a:t>
            </a:r>
            <a:endParaRPr lang="en-US" sz="900" dirty="0"/>
          </a:p>
        </p:txBody>
      </p:sp>
      <p:pic>
        <p:nvPicPr>
          <p:cNvPr id="7" name="proto-04a" descr="/home/claude/prop/mid/img_p04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41248"/>
            <a:ext cx="5120640" cy="2237064"/>
          </a:xfrm>
          <a:prstGeom prst="rect">
            <a:avLst/>
          </a:prstGeom>
        </p:spPr>
      </p:pic>
      <p:pic>
        <p:nvPicPr>
          <p:cNvPr id="8" name="proto-04b" descr="/home/claude/prop/mid/img_p04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54680"/>
            <a:ext cx="5120640" cy="1350736"/>
          </a:xfrm>
          <a:prstGeom prst="rect">
            <a:avLst/>
          </a:prstGeom>
        </p:spPr>
      </p:pic>
      <p:sp>
        <p:nvSpPr>
          <p:cNvPr id="9" name="night-card"/>
          <p:cNvSpPr/>
          <p:nvPr/>
        </p:nvSpPr>
        <p:spPr>
          <a:xfrm>
            <a:off x="5669280" y="914400"/>
            <a:ext cx="3063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06440" y="987552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52%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5806440" y="1554480"/>
            <a:ext cx="2834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修法後毒駕發生在晚上 8 點到凌晨 4 點（一天的 1/3），23 時最高 → T7</a:t>
            </a:r>
            <a:endParaRPr lang="en-US" sz="1150" dirty="0"/>
          </a:p>
        </p:txBody>
      </p:sp>
      <p:sp>
        <p:nvSpPr>
          <p:cNvPr id="12" name="irr-card"/>
          <p:cNvSpPr/>
          <p:nvPr/>
        </p:nvSpPr>
        <p:spPr>
          <a:xfrm>
            <a:off x="5669280" y="2697480"/>
            <a:ext cx="306324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06440" y="2770632"/>
            <a:ext cx="2834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+2.8% / °C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5806440" y="3291840"/>
            <a:ext cx="28346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氣溫每升 1°C 毒駕案件率增約 2.8%（IRR 1.028），與酒駕相近；雨天效果不顯著 → 列為延伸分析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原型②（續）：毒駕 × 酒駕時空雙變數（林聖偉）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359359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33649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06  </a:t>
            </a:r>
            <a:r>
              <a:rPr lang="en-US" sz="1800" b="1" dirty="0">
                <a:solidFill>
                  <a:schemeClr val="bg1"/>
                </a:solidFill>
              </a:rPr>
              <a:t>原型② 時空雙變數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報告人：林聖偉</a:t>
            </a:r>
            <a:endParaRPr lang="en-US" sz="900" dirty="0"/>
          </a:p>
        </p:txBody>
      </p:sp>
      <p:pic>
        <p:nvPicPr>
          <p:cNvPr id="7" name="fig7" descr="/home/claude/prop/mid/img_f7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4343400" cy="3619500"/>
          </a:xfrm>
          <a:prstGeom prst="rect">
            <a:avLst/>
          </a:prstGeom>
        </p:spPr>
      </p:pic>
      <p:sp>
        <p:nvSpPr>
          <p:cNvPr id="8" name="f7-0"/>
          <p:cNvSpPr/>
          <p:nvPr/>
        </p:nvSpPr>
        <p:spPr>
          <a:xfrm>
            <a:off x="4892040" y="914400"/>
            <a:ext cx="384048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0" y="969264"/>
            <a:ext cx="3566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174 → 3,487 件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2023 → 2024 全國毒駕；22 縣市中 20 個同時躍升</a:t>
            </a:r>
            <a:endParaRPr lang="en-US" sz="1100" dirty="0"/>
          </a:p>
        </p:txBody>
      </p:sp>
      <p:sp>
        <p:nvSpPr>
          <p:cNvPr id="11" name="f7-1"/>
          <p:cNvSpPr/>
          <p:nvPr/>
        </p:nvSpPr>
        <p:spPr>
          <a:xfrm>
            <a:off x="4892040" y="1874520"/>
            <a:ext cx="384048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0" y="1929384"/>
            <a:ext cx="3566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17 個縣市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2313432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2024 年酒駕不到各自 2014–2023 高峰的一半</a:t>
            </a:r>
            <a:endParaRPr lang="en-US" sz="1100" dirty="0"/>
          </a:p>
        </p:txBody>
      </p:sp>
      <p:sp>
        <p:nvSpPr>
          <p:cNvPr id="14" name="f7-2"/>
          <p:cNvSpPr/>
          <p:nvPr/>
        </p:nvSpPr>
        <p:spPr>
          <a:xfrm>
            <a:off x="4892040" y="2834640"/>
            <a:ext cx="384048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29200" y="2889504"/>
            <a:ext cx="35661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例外：臺東、南投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0" y="3273552"/>
            <a:ext cx="3566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2024 年酒駕仍接近各自高峰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3840480"/>
            <a:ext cx="38404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設計：單圖＋迷你長條看整段演變（R3）、年度小倍數比較特定年度（R1），依 Peña-Araya et al. (2020)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預期呈現：整合為多視圖連動系統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240487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07  </a:t>
            </a:r>
            <a:r>
              <a:rPr lang="en-US" sz="1800" b="1" dirty="0">
                <a:solidFill>
                  <a:schemeClr val="bg1"/>
                </a:solidFill>
              </a:rPr>
              <a:t>系統整合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報告人：林聖偉</a:t>
            </a:r>
            <a:endParaRPr lang="en-US" sz="900" dirty="0"/>
          </a:p>
        </p:txBody>
      </p:sp>
      <p:pic>
        <p:nvPicPr>
          <p:cNvPr id="7" name="fig4" descr="/home/claude/prop/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41248"/>
            <a:ext cx="5394960" cy="35610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897880" y="896112"/>
            <a:ext cx="288036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① 方格地圖總覽（T1）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② 時間軸刷選（T2）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③ 熱點疊合比較（T3、T5、T7）← 熊恩原型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③' 縣市 × 品項熱圖（T4）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④ 判決原文標示擷取來源句（T6，參考 LegalVis）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時段：星期 × 小時熱圖（T7）← 聖偉原型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延伸：路檢規劃工具（柏翰構想，查獲缺口＋回測；待確認路口事故資料）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下一步與挑戰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2880360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07  </a:t>
            </a:r>
            <a:r>
              <a:rPr lang="en-US" sz="1800" b="1" dirty="0">
                <a:solidFill>
                  <a:schemeClr val="bg1"/>
                </a:solidFill>
              </a:rPr>
              <a:t>下一步與挑戰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773168"/>
            <a:ext cx="2468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chemeClr val="accent1"/>
                </a:solidFill>
              </a:rPr>
              <a:t>報告人：林聖偉</a:t>
            </a:r>
            <a:endParaRPr lang="en-US" sz="900" dirty="0"/>
          </a:p>
        </p:txBody>
      </p:sp>
      <p:sp>
        <p:nvSpPr>
          <p:cNvPr id="7" name="next-0"/>
          <p:cNvSpPr/>
          <p:nvPr/>
        </p:nvSpPr>
        <p:spPr>
          <a:xfrm>
            <a:off x="457200" y="9601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第 9–11 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36192"/>
            <a:ext cx="228600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依抽樣錯誤修正擷取規則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人口正規化（每十萬人）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品項改從尿檢結果句擷取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bg1"/>
                </a:solidFill>
              </a:rPr>
              <a:t>分局 → 鄉鎮區轄區對照</a:t>
            </a:r>
            <a:endParaRPr lang="en-US" sz="1250" dirty="0"/>
          </a:p>
        </p:txBody>
      </p:sp>
      <p:sp>
        <p:nvSpPr>
          <p:cNvPr id="10" name="next-1"/>
          <p:cNvSpPr/>
          <p:nvPr/>
        </p:nvSpPr>
        <p:spPr>
          <a:xfrm>
            <a:off x="3246120" y="9601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第 12 週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536192"/>
            <a:ext cx="228600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四篇論文報告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專題進度與挑戰</a:t>
            </a:r>
            <a:endParaRPr lang="en-US" sz="1250" dirty="0"/>
          </a:p>
        </p:txBody>
      </p:sp>
      <p:sp>
        <p:nvSpPr>
          <p:cNvPr id="13" name="next-2"/>
          <p:cNvSpPr/>
          <p:nvPr/>
        </p:nvSpPr>
        <p:spPr>
          <a:xfrm>
            <a:off x="6035040" y="9601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078992"/>
            <a:ext cx="22860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第 13–15 週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536192"/>
            <a:ext cx="228600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整合三個原型為單一系統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任務導向使用者評估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（2–3 位司法／警政實務者）</a:t>
            </a:r>
            <a:endParaRPr lang="en-US" sz="1250" dirty="0"/>
          </a:p>
        </p:txBody>
      </p:sp>
      <p:sp>
        <p:nvSpPr>
          <p:cNvPr id="16" name="challenge"/>
          <p:cNvSpPr/>
          <p:nvPr/>
        </p:nvSpPr>
        <p:spPr>
          <a:xfrm>
            <a:off x="457200" y="3474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DF0EA"/>
          </a:solidFill>
          <a:ln w="12700">
            <a:solidFill>
              <a:srgbClr val="FDF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547872"/>
            <a:ext cx="78638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主要挑戰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判決數反映執法強度，不等於實際發生率；約 4 成查獲地點被遮蔽；裁判日期與犯罪日期兩種基準需統一說明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2296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Q&amp;A 備用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603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bg2"/>
                </a:solidFill>
              </a:rPr>
              <a:t>以下 16 題為預擬問答，報告時不播放，被問到時跳至對應頁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Q&amp;A：Q1–Q2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21615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Q&amp;A</a:t>
            </a:r>
            <a:endParaRPr lang="en-US" sz="1800" dirty="0"/>
          </a:p>
        </p:txBody>
      </p:sp>
      <p:sp>
        <p:nvSpPr>
          <p:cNvPr id="6" name="qa-0"/>
          <p:cNvSpPr/>
          <p:nvPr/>
        </p:nvSpPr>
        <p:spPr>
          <a:xfrm>
            <a:off x="457200" y="91440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2412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Q1 為什麼用件數、不用每十萬人？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8132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件數主要反映人口：新北人口約為嘉義市 15 倍。目前先用件數／占比，期末以內政部年底人口正規化為每十萬人判決率；熊恩原型已用每十萬人每月件數判定熱點。</a:t>
            </a:r>
            <a:endParaRPr lang="en-US" sz="1450" dirty="0"/>
          </a:p>
        </p:txBody>
      </p:sp>
      <p:sp>
        <p:nvSpPr>
          <p:cNvPr id="9" name="qa-1"/>
          <p:cNvSpPr/>
          <p:nvPr/>
        </p:nvSpPr>
        <p:spPr>
          <a:xfrm>
            <a:off x="457200" y="278892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Q2 程式擷取準不準？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5584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抽樣 50 份對照全文（熊恩複核）：分類 100%、縣市 84%、鄉鎮區 86%、分局 88%、品項 86%、肇事 92%、地點句 72%。品項錯誤都是多列扣案物，期末改從尿檢結果句擷取。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Q&amp;A：Q3–Q4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21615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Q&amp;A</a:t>
            </a:r>
            <a:endParaRPr lang="en-US" sz="1800" dirty="0"/>
          </a:p>
        </p:txBody>
      </p:sp>
      <p:sp>
        <p:nvSpPr>
          <p:cNvPr id="6" name="qa-2"/>
          <p:cNvSpPr/>
          <p:nvPr/>
        </p:nvSpPr>
        <p:spPr>
          <a:xfrm>
            <a:off x="457200" y="91440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2412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Q3 判決數能代表毒駕實際發生嗎？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8132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不能。判決＝取締 × 起訴 × 判決，受執法強度影響；酒測超標未驗毒、緩起訴、只受行政罰者都不在資料中。我們稱「判決分布」，不稱「發生率」，並標示在介面上。</a:t>
            </a:r>
            <a:endParaRPr lang="en-US" sz="1450" dirty="0"/>
          </a:p>
        </p:txBody>
      </p:sp>
      <p:sp>
        <p:nvSpPr>
          <p:cNvPr id="9" name="qa-3"/>
          <p:cNvSpPr/>
          <p:nvPr/>
        </p:nvSpPr>
        <p:spPr>
          <a:xfrm>
            <a:off x="457200" y="278892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Q4 資料期間不設限，修法前後怎麼比？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5584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修法前後成立門檻不同，件數不能直接比。保留 2013 起的完整資料作長期對照，呈現以 2024/01 後為主；跨期比較用占比（圖 1），並把 2024 視為起步期、以半年比較。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Q&amp;A：Q5–Q6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21615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Q&amp;A</a:t>
            </a:r>
            <a:endParaRPr lang="en-US" sz="1800" dirty="0"/>
          </a:p>
        </p:txBody>
      </p:sp>
      <p:sp>
        <p:nvSpPr>
          <p:cNvPr id="6" name="qa-4"/>
          <p:cNvSpPr/>
          <p:nvPr/>
        </p:nvSpPr>
        <p:spPr>
          <a:xfrm>
            <a:off x="457200" y="91440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2412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Q5 為什麼毒駕有 15,077 與 8,487 兩個數字？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8132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時間基準不同：15,077 依裁判日期，含全部毒駕判決；8,487 依犯罪日期，只計能定位到縣市、擷取得到日期者，且近期尚未判決（右設限）。每張圖都標示所用基準。</a:t>
            </a:r>
            <a:endParaRPr lang="en-US" sz="1450" dirty="0"/>
          </a:p>
        </p:txBody>
      </p:sp>
      <p:sp>
        <p:nvSpPr>
          <p:cNvPr id="9" name="qa-5"/>
          <p:cNvSpPr/>
          <p:nvPr/>
        </p:nvSpPr>
        <p:spPr>
          <a:xfrm>
            <a:off x="457200" y="278892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Q6 地點被遮蔽的案件怎麼處理？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5584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改用判決所載移送警察分局當替代單位（41%），分局轄區多涵蓋 1–2 個鄉鎮區；只到縣市者 6.5%，無法定位者 9.5% 揭露於介面，不硬塞進地圖。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Q&amp;A：Q7–Q8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21615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Q&amp;A</a:t>
            </a:r>
            <a:endParaRPr lang="en-US" sz="1800" dirty="0"/>
          </a:p>
        </p:txBody>
      </p:sp>
      <p:sp>
        <p:nvSpPr>
          <p:cNvPr id="6" name="qa-6"/>
          <p:cNvSpPr/>
          <p:nvPr/>
        </p:nvSpPr>
        <p:spPr>
          <a:xfrm>
            <a:off x="457200" y="91440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2412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Q7 為什麼用方格地圖，不用真實地圖？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8132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臺灣都會區面積小、人口多，面量圖會讓臺北、新北等格子太小看不清（Nusrat &amp; Kobourov, 2016）。方格地圖每縣市等大、保留相對位置；下鑽到鄉鎮區才用真實地圖。</a:t>
            </a:r>
            <a:endParaRPr lang="en-US" sz="1450" dirty="0"/>
          </a:p>
        </p:txBody>
      </p:sp>
      <p:sp>
        <p:nvSpPr>
          <p:cNvPr id="9" name="qa-7"/>
          <p:cNvSpPr/>
          <p:nvPr/>
        </p:nvSpPr>
        <p:spPr>
          <a:xfrm>
            <a:off x="457200" y="278892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Q8 SHOC 用 KDE，你們用縣市排序，差在哪？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5584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SHOC 以點位做核密度估計（KDE）再取等值線；我們多數案件只能到行政區，所以用「依每十萬人件數排序、累計達門檻」模擬其門檻概念。地點可定位者，期末可在鄉鎮區層級試做。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Q&amp;A：Q9–Q10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21615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Q&amp;A</a:t>
            </a:r>
            <a:endParaRPr lang="en-US" sz="1800" dirty="0"/>
          </a:p>
        </p:txBody>
      </p:sp>
      <p:sp>
        <p:nvSpPr>
          <p:cNvPr id="6" name="qa-8"/>
          <p:cNvSpPr/>
          <p:nvPr/>
        </p:nvSpPr>
        <p:spPr>
          <a:xfrm>
            <a:off x="457200" y="91440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2412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Q9 天氣分析能說明因果嗎？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8132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不能，只是相關。準 Poisson 迴歸已控制縣市、年月、星期固定效果，氣溫 IRR 1.028（95% CI 1.016–1.041），但酒駕幾乎相同（1.029），可能反映夜間活動或執法安排，故列為延伸分析。</a:t>
            </a:r>
            <a:endParaRPr lang="en-US" sz="1450" dirty="0"/>
          </a:p>
        </p:txBody>
      </p:sp>
      <p:sp>
        <p:nvSpPr>
          <p:cNvPr id="9" name="qa-9"/>
          <p:cNvSpPr/>
          <p:nvPr/>
        </p:nvSpPr>
        <p:spPr>
          <a:xfrm>
            <a:off x="457200" y="278892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Q10 依托咪酯的比例可信嗎？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5584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可能偏高。抽樣發現程式會把扣案菸彈內的依托咪酯當成檢出品項。依托咪酯自 2024/12 起出現在判決中；期末改從「尿液檢驗結果」句擷取後重畫圖 3。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Q&amp;A：Q11–Q12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21615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Q&amp;A</a:t>
            </a:r>
            <a:endParaRPr lang="en-US" sz="1800" dirty="0"/>
          </a:p>
        </p:txBody>
      </p:sp>
      <p:sp>
        <p:nvSpPr>
          <p:cNvPr id="6" name="qa-10"/>
          <p:cNvSpPr/>
          <p:nvPr/>
        </p:nvSpPr>
        <p:spPr>
          <a:xfrm>
            <a:off x="457200" y="91440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2412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Q11 酒駕判決為什麼一直下降？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8132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可能受執法、法規與疫情等多重因素影響（如 2021 年中明顯下降），本專題不做因果解讀。酒駕在本專題是比較基準，主要用來看熱點是否與毒駕重合（T3）。</a:t>
            </a:r>
            <a:endParaRPr lang="en-US" sz="1450" dirty="0"/>
          </a:p>
        </p:txBody>
      </p:sp>
      <p:sp>
        <p:nvSpPr>
          <p:cNvPr id="9" name="qa-11"/>
          <p:cNvSpPr/>
          <p:nvPr/>
        </p:nvSpPr>
        <p:spPr>
          <a:xfrm>
            <a:off x="457200" y="278892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Q12 路檢規劃工具做得出來嗎？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5584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目前是模擬資料。需要路口層級的毒駕事故（交通事故資料是否有「毒駕」欄位待確認）與電信人流資料；期末先評估可得性，可行才納入，否則以鄉鎮區層級的查獲缺口呈現。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Q&amp;A：Q13–Q14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21615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Q&amp;A</a:t>
            </a:r>
            <a:endParaRPr lang="en-US" sz="1800" dirty="0"/>
          </a:p>
        </p:txBody>
      </p:sp>
      <p:sp>
        <p:nvSpPr>
          <p:cNvPr id="6" name="qa-12"/>
          <p:cNvSpPr/>
          <p:nvPr/>
        </p:nvSpPr>
        <p:spPr>
          <a:xfrm>
            <a:off x="457200" y="91440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2412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Q13 三個原型怎麼整合？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8132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共用同一份逐案資料與篩選狀態：方格地圖與時間軸為總覽，熱點比較器、時段熱圖、品項熱圖為分析視圖，判決原文為細節。技術上統一用 D3.js，期末合併成單一網頁。</a:t>
            </a:r>
            <a:endParaRPr lang="en-US" sz="1450" dirty="0"/>
          </a:p>
        </p:txBody>
      </p:sp>
      <p:sp>
        <p:nvSpPr>
          <p:cNvPr id="9" name="qa-13"/>
          <p:cNvSpPr/>
          <p:nvPr/>
        </p:nvSpPr>
        <p:spPr>
          <a:xfrm>
            <a:off x="457200" y="278892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Q14 有沒有個資或倫理問題？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5584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只用司法院公開、已去識別化的判決；介面不顯示姓名，單一判決以連結導向司法院官方全文；分析以地區與期間的聚合為主，不做個人層級推論。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補充：縣市 × 毒品品項（被問到 T4 時使用）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929384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1700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Q&amp;A 補充</a:t>
            </a:r>
            <a:endParaRPr lang="en-US" sz="1800" dirty="0"/>
          </a:p>
        </p:txBody>
      </p:sp>
      <p:pic>
        <p:nvPicPr>
          <p:cNvPr id="6" name="fig3" descr="/home/claude/prop/mid/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841248"/>
            <a:ext cx="6217920" cy="38910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附：報告分工與時間（約 10 分鐘）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453896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12252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報告分工</a:t>
            </a:r>
            <a:endParaRPr lang="en-US" sz="1800" dirty="0"/>
          </a:p>
        </p:txBody>
      </p:sp>
      <p:graphicFrame>
        <p:nvGraphicFramePr>
          <p:cNvPr id="26" name="assig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報告人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頁次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內容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時間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莊一桂</a:t>
                      </a:r>
                      <a:r>
                        <a:rPr lang="en-US" sz="900" dirty="0">
                          <a:solidFill>
                            <a:srgbClr val="6B728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（組長）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1–5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開場、大綱、動機與任務、資料、前處理與判決閱讀器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約 2 分 50 秒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蕭柏翰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6–8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修法與研究期間、空間顆粒度、初步發現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約 2 分 25 秒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熊恩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9–11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相關研究、任務設計（SHOC 對照）、熱點比較器原型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約 2 分 15 秒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林聖偉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12–15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天氣與時段分析原型、時空雙變數、整合系統（含路檢延伸）、下一步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約 2 分 35 秒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Q&amp;A（5 分鐘）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備用頁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組長主持，依題目由負責組員回答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報告完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22960"/>
            <a:ext cx="50292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報告完畢　敬請指教</a:t>
            </a:r>
            <a:endParaRPr lang="en-US" sz="3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56032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zh-TW" altLang="en-US" sz="1800" b="1" dirty="0">
                <a:solidFill>
                  <a:schemeClr val="bg1"/>
                </a:solidFill>
              </a:rPr>
              <a:t>接下來 5 分鐘開放討論，歡迎提問與建議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zh-TW" altLang="en-US" sz="1400" dirty="0">
                <a:solidFill>
                  <a:schemeClr val="bg2"/>
                </a:solidFill>
              </a:rPr>
              <a:t>資訊視覺化 期末專題 期中報告｜第一組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zh-TW" altLang="en-US" sz="1400" dirty="0">
                <a:solidFill>
                  <a:schemeClr val="bg2"/>
                </a:solidFill>
              </a:rPr>
              <a:t>莊一桂・熊恩・蕭柏翰・林聖偉</a:t>
            </a:r>
          </a:p>
        </p:txBody>
      </p:sp>
      <p:pic>
        <p:nvPicPr>
          <p:cNvPr id="4" name="cover-art" descr="毒駕方格地圖與月別趨勢意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548640"/>
            <a:ext cx="3108960" cy="37011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Q&amp;A：Q15–Q16</a:t>
            </a:r>
            <a:endParaRPr lang="en-US" sz="1900" dirty="0"/>
          </a:p>
        </p:txBody>
      </p:sp>
      <p:sp>
        <p:nvSpPr>
          <p:cNvPr id="3" name="page-tag-bg"/>
          <p:cNvSpPr/>
          <p:nvPr/>
        </p:nvSpPr>
        <p:spPr>
          <a:xfrm>
            <a:off x="0" y="45720"/>
            <a:ext cx="1216152" cy="438912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page-tag-bar"/>
          <p:cNvSpPr/>
          <p:nvPr/>
        </p:nvSpPr>
        <p:spPr>
          <a:xfrm>
            <a:off x="0" y="45720"/>
            <a:ext cx="109728" cy="43891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ge-tag-text"/>
          <p:cNvSpPr txBox="1"/>
          <p:nvPr/>
        </p:nvSpPr>
        <p:spPr>
          <a:xfrm>
            <a:off x="228600" y="4572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Q&amp;A</a:t>
            </a:r>
            <a:endParaRPr lang="en-US" sz="1800" dirty="0"/>
          </a:p>
        </p:txBody>
      </p:sp>
      <p:sp>
        <p:nvSpPr>
          <p:cNvPr id="6" name="qa-12"/>
          <p:cNvSpPr/>
          <p:nvPr/>
        </p:nvSpPr>
        <p:spPr>
          <a:xfrm>
            <a:off x="457200" y="91440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02412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Q15 判決閱讀器和組員原型差在哪？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48132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其他原型回答「哪裡多、何時多」；閱讀器回答「這些數字從哪幾句判決文字來、可不可信」。它是系統的細節層（T6）：從地圖或時間軸點進去，就能看到該月判決清單與抽取來源句，並連到司法院原文。</a:t>
            </a:r>
            <a:endParaRPr lang="en-US" sz="1450" dirty="0"/>
          </a:p>
        </p:txBody>
      </p:sp>
      <p:sp>
        <p:nvSpPr>
          <p:cNvPr id="9" name="qa-13"/>
          <p:cNvSpPr/>
          <p:nvPr/>
        </p:nvSpPr>
        <p:spPr>
          <a:xfrm>
            <a:off x="457200" y="2788920"/>
            <a:ext cx="8229600" cy="1719072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98648"/>
            <a:ext cx="78638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Q16 段落相似度怎麼算？準嗎？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55848"/>
            <a:ext cx="78638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比照 LegalVis：jieba 斷詞後算 TF-IDF，再算每段與所犯條款條文的角度相似度；判決末附錄的法條全文不計。它是導讀工具，幫忙快速找到論罪與尿檢段落，不用來判斷是否成罪。期末再加入「未載款次案件」的分類推論。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ID Navy">
  <a:themeElements>
    <a:clrScheme name="DUID Navy">
      <a:dk1>
        <a:srgbClr val="1B1F2A"/>
      </a:dk1>
      <a:lt1>
        <a:srgbClr val="FFFFFF"/>
      </a:lt1>
      <a:dk2>
        <a:srgbClr val="1E2A44"/>
      </a:dk2>
      <a:lt2>
        <a:srgbClr val="EEF2F7"/>
      </a:lt2>
      <a:accent1>
        <a:srgbClr val="EB6834"/>
      </a:accent1>
      <a:accent2>
        <a:srgbClr val="2A78D6"/>
      </a:accent2>
      <a:accent3>
        <a:srgbClr val="0D366B"/>
      </a:accent3>
      <a:accent4>
        <a:srgbClr val="6B7280"/>
      </a:accent4>
      <a:accent5>
        <a:srgbClr val="FDE68A"/>
      </a:accent5>
      <a:accent6>
        <a:srgbClr val="1BAF7A"/>
      </a:accent6>
      <a:hlink>
        <a:srgbClr val="2A78D6"/>
      </a:hlink>
      <a:folHlink>
        <a:srgbClr val="6250D6"/>
      </a:folHlink>
    </a:clrScheme>
    <a:fontScheme name="DUID Navy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2853</Words>
  <Application>Microsoft Office PowerPoint</Application>
  <PresentationFormat>如螢幕大小 (16:9)</PresentationFormat>
  <Paragraphs>377</Paragraphs>
  <Slides>25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9" baseType="lpstr">
      <vt:lpstr>Microsoft JhengHei</vt:lpstr>
      <vt:lpstr>Arial</vt:lpstr>
      <vt:lpstr>Calibri</vt:lpstr>
      <vt:lpstr>DUID Navy</vt:lpstr>
      <vt:lpstr>毒駕案件之時空分布 視覺化分析</vt:lpstr>
      <vt:lpstr>大綱</vt:lpstr>
      <vt:lpstr>修法後毒駕判決暴增，但官方統計看不到「在哪裡、何時」</vt:lpstr>
      <vt:lpstr>資料：從裁判書開放資料篩出 59 萬件 §185-3 判決</vt:lpstr>
      <vt:lpstr>資料前處理：從判決全文到可分析的欄位</vt:lpstr>
      <vt:lpstr>修法造成斷點：資料期間不設限，呈現以修法後為主</vt:lpstr>
      <vt:lpstr>回應老師：判決雖遮蔽地址，84% 仍可細到鄉鎮區或分局</vt:lpstr>
      <vt:lpstr>初步發現：修法前後，毒駕的空間結構不同</vt:lpstr>
      <vt:lpstr>相關研究：每篇各借一個關鍵技術</vt:lpstr>
      <vt:lpstr>任務設計：依 SHOC「每次只改變一個條件」對照</vt:lpstr>
      <vt:lpstr>組員原型①：毒駕熱點比較器（熊恩，D3.js，真實資料）</vt:lpstr>
      <vt:lpstr>組員原型②：毒駕與天氣分析（林聖偉，D3.js，真實資料）</vt:lpstr>
      <vt:lpstr>原型②（續）：毒駕 × 酒駕時空雙變數（林聖偉）</vt:lpstr>
      <vt:lpstr>預期呈現：整合為多視圖連動系統</vt:lpstr>
      <vt:lpstr>下一步與挑戰</vt:lpstr>
      <vt:lpstr>Q&amp;A 備用</vt:lpstr>
      <vt:lpstr>Q&amp;A：Q1–Q2</vt:lpstr>
      <vt:lpstr>Q&amp;A：Q3–Q4</vt:lpstr>
      <vt:lpstr>Q&amp;A：Q5–Q6</vt:lpstr>
      <vt:lpstr>Q&amp;A：Q7–Q8</vt:lpstr>
      <vt:lpstr>Q&amp;A：Q9–Q10</vt:lpstr>
      <vt:lpstr>Q&amp;A：Q11–Q12</vt:lpstr>
      <vt:lpstr>Q&amp;A：Q13–Q14</vt:lpstr>
      <vt:lpstr>補充：縣市 × 毒品品項（被問到 T4 時使用）</vt:lpstr>
      <vt:lpstr>附：報告分工與時間（約 10 分鐘）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毒駕案件之時空分布視覺化分析（期中報告 v13.02）</dc:title>
  <dc:subject>PptxGenJS Presentation</dc:subject>
  <dc:creator>第一組</dc:creator>
  <cp:lastModifiedBy>一桂 莊</cp:lastModifiedBy>
  <cp:revision>3</cp:revision>
  <dcterms:created xsi:type="dcterms:W3CDTF">2026-10-24T14:26:07Z</dcterms:created>
  <dcterms:modified xsi:type="dcterms:W3CDTF">2026-10-24T14:31:06Z</dcterms:modified>
</cp:coreProperties>
</file>